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13716000" cx="2438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Helvetica Neue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44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gUYPof87lZ+lx/Y6zZH5Jvj9ng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44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regular.fntdata"/><Relationship Id="rId20" Type="http://schemas.openxmlformats.org/officeDocument/2006/relationships/slide" Target="slides/slide15.xml"/><Relationship Id="rId42" Type="http://schemas.openxmlformats.org/officeDocument/2006/relationships/font" Target="fonts/HelveticaNeue-italic.fntdata"/><Relationship Id="rId41" Type="http://schemas.openxmlformats.org/officeDocument/2006/relationships/font" Target="fonts/HelveticaNeue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HelveticaNeue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4657ff511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b4657ff511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4657ff51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g3b4657ff51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83cf0cf24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g3b83cf0cf24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83cf0cf24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b83cf0cf24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cb6711032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ecb6711032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83cf0cf24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g3b83cf0cf24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b9c2754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ecb9c2754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b9c2754a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ecb9c2754a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cbc8985b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g3ecbc8985b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5c94efb17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b5c94efb17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83cf0cf24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b83cf0cf24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44c17b337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b44c17b337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Blue" showMasterSp="0" type="tx">
  <p:cSld name="TITLE_AND_BODY">
    <p:bg>
      <p:bgPr>
        <a:solidFill>
          <a:srgbClr val="13294B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1Artboard 3 copy 7edsw.pdf" id="9" name="Google Shape;9;p23"/>
          <p:cNvPicPr preferRelativeResize="0"/>
          <p:nvPr/>
        </p:nvPicPr>
        <p:blipFill rotWithShape="1">
          <a:blip r:embed="rId2">
            <a:alphaModFix amt="24805"/>
          </a:blip>
          <a:srcRect b="14358" l="0" r="51630" t="36879"/>
          <a:stretch/>
        </p:blipFill>
        <p:spPr>
          <a:xfrm>
            <a:off x="7692511" y="0"/>
            <a:ext cx="16687800" cy="1371296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3"/>
          <p:cNvSpPr txBox="1"/>
          <p:nvPr>
            <p:ph idx="1" type="body"/>
          </p:nvPr>
        </p:nvSpPr>
        <p:spPr>
          <a:xfrm>
            <a:off x="1192410" y="4081145"/>
            <a:ext cx="16230601" cy="5553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FFFFFF"/>
              </a:buClr>
              <a:buSzPts val="15850"/>
              <a:buFont typeface="Arial"/>
              <a:buNone/>
              <a:defRPr b="0" i="0" sz="15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3626" lvl="1" marL="914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3626" lvl="2" marL="13716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33626" lvl="3" marL="18288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33626" lvl="4" marL="22860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3626" lvl="5" marL="27432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3626" lvl="6" marL="3200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3626" lvl="7" marL="36576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3625" lvl="8" marL="41148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2" type="body"/>
          </p:nvPr>
        </p:nvSpPr>
        <p:spPr>
          <a:xfrm>
            <a:off x="1306711" y="11401859"/>
            <a:ext cx="8001001" cy="106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3626" lvl="1" marL="914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3626" lvl="2" marL="13716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33626" lvl="3" marL="18288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33626" lvl="4" marL="22860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3626" lvl="5" marL="27432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3626" lvl="6" marL="3200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3626" lvl="7" marL="36576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3625" lvl="8" marL="41148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 b="27577" l="0" r="0" t="31620"/>
          <a:stretch/>
        </p:blipFill>
        <p:spPr>
          <a:xfrm>
            <a:off x="1002589" y="1251082"/>
            <a:ext cx="3474720" cy="106305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3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1pPr>
            <a:lvl2pPr indent="0" lvl="1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2pPr>
            <a:lvl3pPr indent="0" lvl="2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3pPr>
            <a:lvl4pPr indent="0" lvl="3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4pPr>
            <a:lvl5pPr indent="0" lvl="4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5pPr>
            <a:lvl6pPr indent="0" lvl="5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6pPr>
            <a:lvl7pPr indent="0" lvl="6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7pPr>
            <a:lvl8pPr indent="0" lvl="7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8pPr>
            <a:lvl9pPr indent="0" lvl="8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1_Statement">
  <p:cSld name="7_1_Statemen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1Artboard 2edsw.pdf" id="15" name="Google Shape;15;p24"/>
          <p:cNvPicPr preferRelativeResize="0"/>
          <p:nvPr/>
        </p:nvPicPr>
        <p:blipFill rotWithShape="1">
          <a:blip r:embed="rId2">
            <a:alphaModFix amt="13000"/>
          </a:blip>
          <a:srcRect b="37450" l="26596" r="0" t="0"/>
          <a:stretch/>
        </p:blipFill>
        <p:spPr>
          <a:xfrm>
            <a:off x="1" y="7872548"/>
            <a:ext cx="9974422" cy="584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07201" y="759806"/>
            <a:ext cx="1627198" cy="1430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4"/>
          <p:cNvSpPr txBox="1"/>
          <p:nvPr>
            <p:ph type="title"/>
          </p:nvPr>
        </p:nvSpPr>
        <p:spPr>
          <a:xfrm>
            <a:off x="1222240" y="6238476"/>
            <a:ext cx="19535564" cy="127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1pPr>
            <a:lvl2pPr indent="0" lvl="1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2pPr>
            <a:lvl3pPr indent="0" lvl="2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3pPr>
            <a:lvl4pPr indent="0" lvl="3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4pPr>
            <a:lvl5pPr indent="0" lvl="4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5pPr>
            <a:lvl6pPr indent="0" lvl="5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6pPr>
            <a:lvl7pPr indent="0" lvl="6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7pPr>
            <a:lvl8pPr indent="0" lvl="7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8pPr>
            <a:lvl9pPr indent="0" lvl="8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1_plain text">
  <p:cSld name="5_1_plain tex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1Artboard 2edsw.pdf" id="20" name="Google Shape;20;p25"/>
          <p:cNvPicPr preferRelativeResize="0"/>
          <p:nvPr/>
        </p:nvPicPr>
        <p:blipFill rotWithShape="1">
          <a:blip r:embed="rId2">
            <a:alphaModFix amt="13000"/>
          </a:blip>
          <a:srcRect b="0" l="0" r="0" t="0"/>
          <a:stretch/>
        </p:blipFill>
        <p:spPr>
          <a:xfrm>
            <a:off x="1" y="8482520"/>
            <a:ext cx="6371378" cy="5233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07201" y="759806"/>
            <a:ext cx="1627198" cy="143015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1252800" y="3204500"/>
            <a:ext cx="21708000" cy="7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3626" lvl="0" marL="4572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060320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06032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3626" lvl="1" marL="914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060320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06032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3626" lvl="2" marL="13716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060320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06032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33626" lvl="3" marL="18288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060320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06032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33626" lvl="4" marL="22860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060320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06032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3626" lvl="5" marL="27432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3626" lvl="6" marL="3200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3626" lvl="7" marL="36576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3625" lvl="8" marL="41148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5"/>
          <p:cNvSpPr txBox="1"/>
          <p:nvPr>
            <p:ph type="title"/>
          </p:nvPr>
        </p:nvSpPr>
        <p:spPr>
          <a:xfrm>
            <a:off x="1252796" y="962251"/>
            <a:ext cx="14400000" cy="857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60320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06032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4500"/>
              </a:spcBef>
              <a:spcAft>
                <a:spcPts val="0"/>
              </a:spcAft>
              <a:buClr>
                <a:srgbClr val="13294B"/>
              </a:buClr>
              <a:buSzPts val="7925"/>
              <a:buFont typeface="Arial"/>
              <a:buNone/>
              <a:defRPr b="0" i="0" sz="79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5"/>
          <p:cNvSpPr txBox="1"/>
          <p:nvPr>
            <p:ph idx="2" type="body"/>
          </p:nvPr>
        </p:nvSpPr>
        <p:spPr>
          <a:xfrm>
            <a:off x="1252802" y="1860377"/>
            <a:ext cx="14400000" cy="611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060320"/>
              </a:buClr>
              <a:buSzPts val="3936"/>
              <a:buFont typeface="Arial"/>
              <a:buNone/>
              <a:defRPr b="0" i="0" sz="3200" u="none" cap="none" strike="noStrike">
                <a:solidFill>
                  <a:srgbClr val="06032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3626" lvl="1" marL="914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3626" lvl="2" marL="13716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33626" lvl="3" marL="18288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33626" lvl="4" marL="22860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3626" lvl="5" marL="27432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3626" lvl="6" marL="3200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3626" lvl="7" marL="36576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3625" lvl="8" marL="41148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13294B"/>
              </a:buClr>
              <a:buSzPts val="3229"/>
              <a:buFont typeface="Arial"/>
              <a:buChar char="•"/>
              <a:defRPr b="0" i="0" sz="2625" u="none" cap="none" strike="noStrike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5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1pPr>
            <a:lvl2pPr indent="0" lvl="1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2pPr>
            <a:lvl3pPr indent="0" lvl="2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3pPr>
            <a:lvl4pPr indent="0" lvl="3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4pPr>
            <a:lvl5pPr indent="0" lvl="4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5pPr>
            <a:lvl6pPr indent="0" lvl="5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6pPr>
            <a:lvl7pPr indent="0" lvl="6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7pPr>
            <a:lvl8pPr indent="0" lvl="7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8pPr>
            <a:lvl9pPr indent="0" lvl="8" mar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22"/>
          <p:cNvSpPr txBox="1"/>
          <p:nvPr/>
        </p:nvSpPr>
        <p:spPr>
          <a:xfrm>
            <a:off x="1107251" y="12708122"/>
            <a:ext cx="4975498" cy="255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rPr>
              <a:t>© 2025 Nagarro – All rights reserved</a:t>
            </a:r>
            <a:endParaRPr b="0" i="0" sz="1800" u="none" cap="none" strike="noStrike">
              <a:solidFill>
                <a:srgbClr val="8893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 txBox="1"/>
          <p:nvPr>
            <p:ph idx="1" type="body"/>
          </p:nvPr>
        </p:nvSpPr>
        <p:spPr>
          <a:xfrm>
            <a:off x="1192410" y="4081145"/>
            <a:ext cx="20326470" cy="5553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lang="en-US" sz="9600"/>
              <a:t>Ecommerce Application - mCart</a:t>
            </a:r>
            <a:r>
              <a:rPr lang="en-US" sz="9600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47D7AC"/>
              </a:buClr>
              <a:buSzPts val="6000"/>
              <a:buFont typeface="Arial"/>
              <a:buNone/>
            </a:pPr>
            <a:r>
              <a:rPr i="1" lang="en-US" sz="6000">
                <a:solidFill>
                  <a:srgbClr val="47D7AC"/>
                </a:solidFill>
              </a:rPr>
              <a:t>High-Level Architecture &amp; Design</a:t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513150" y="12176725"/>
            <a:ext cx="134361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50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Arial"/>
              <a:buNone/>
            </a:pPr>
            <a:r>
              <a:rPr i="1" lang="en-US" sz="3800">
                <a:solidFill>
                  <a:schemeClr val="accent2"/>
                </a:solidFill>
              </a:rPr>
              <a:t>NAGP Assignment</a:t>
            </a:r>
            <a:br>
              <a:rPr i="1" lang="en-US" sz="3800">
                <a:solidFill>
                  <a:schemeClr val="accent2"/>
                </a:solidFill>
              </a:rPr>
            </a:br>
            <a:r>
              <a:rPr i="1" lang="en-US" sz="3800">
                <a:solidFill>
                  <a:schemeClr val="accent2"/>
                </a:solidFill>
              </a:rPr>
              <a:t>Shivam Sharma</a:t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 txBox="1"/>
          <p:nvPr>
            <p:ph type="title"/>
          </p:nvPr>
        </p:nvSpPr>
        <p:spPr>
          <a:xfrm>
            <a:off x="536587" y="1050208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 sz="6600">
                <a:latin typeface="Arial"/>
                <a:ea typeface="Arial"/>
                <a:cs typeface="Arial"/>
                <a:sym typeface="Arial"/>
              </a:rPr>
              <a:t>Agenda</a:t>
            </a:r>
            <a:r>
              <a:rPr b="1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sz="6600"/>
          </a:p>
        </p:txBody>
      </p:sp>
      <p:sp>
        <p:nvSpPr>
          <p:cNvPr id="37" name="Google Shape;37;p2"/>
          <p:cNvSpPr txBox="1"/>
          <p:nvPr/>
        </p:nvSpPr>
        <p:spPr>
          <a:xfrm>
            <a:off x="1033576" y="1672467"/>
            <a:ext cx="20942400" cy="113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Introduction &amp; Objectives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System Overview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Key Requirements &amp; NFRs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High-Level Solution Architecture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Core Services Overview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Integration Architecture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Deployment Architecture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Data Architecture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Technology Stack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Key Design Decisions &amp; Trade-offs</a:t>
            </a:r>
            <a:endParaRPr sz="4800">
              <a:solidFill>
                <a:schemeClr val="dk1"/>
              </a:solidFill>
            </a:endParaRPr>
          </a:p>
          <a:p>
            <a: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AutoNum type="arabicPeriod"/>
            </a:pPr>
            <a:r>
              <a:rPr lang="en-US" sz="4800">
                <a:solidFill>
                  <a:schemeClr val="dk1"/>
                </a:solidFill>
              </a:rPr>
              <a:t>Summary &amp; Future Enhancements</a:t>
            </a:r>
            <a:endParaRPr sz="4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000"/>
              </a:spcBef>
              <a:spcAft>
                <a:spcPts val="0"/>
              </a:spcAft>
              <a:buClr>
                <a:srgbClr val="13294B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068266" y="98845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7D7AC"/>
              </a:buClr>
              <a:buSzPts val="6600"/>
              <a:buFont typeface="Arial"/>
              <a:buNone/>
            </a:pPr>
            <a:r>
              <a:rPr lang="en-US" sz="6600"/>
              <a:t>Introduction</a:t>
            </a:r>
            <a:endParaRPr sz="6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"/>
          <p:cNvSpPr txBox="1"/>
          <p:nvPr/>
        </p:nvSpPr>
        <p:spPr>
          <a:xfrm>
            <a:off x="1068267" y="6583442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Key Capabilities</a:t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1091629" y="7517827"/>
            <a:ext cx="192600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Product discovery &amp; search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Cart &amp; checkout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Secure payments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Order &amp; inventory management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Notifications &amp; analytics</a:t>
            </a:r>
            <a:endParaRPr sz="4025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091636" y="2341078"/>
            <a:ext cx="217713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Objective of the Platform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25">
              <a:solidFill>
                <a:schemeClr val="dk1"/>
              </a:solidFill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114998" y="3275463"/>
            <a:ext cx="192600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Build a scalable, secure, cloud-native e-commerce system</a:t>
            </a:r>
            <a:br>
              <a:rPr lang="en-US" sz="4025">
                <a:solidFill>
                  <a:schemeClr val="dk1"/>
                </a:solidFill>
              </a:rPr>
            </a:br>
            <a:endParaRPr sz="4025">
              <a:solidFill>
                <a:schemeClr val="dk1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Support high traffic, peak sales, and future growth</a:t>
            </a:r>
            <a:endParaRPr sz="40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068266" y="98845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7D7AC"/>
              </a:buClr>
              <a:buSzPts val="6600"/>
              <a:buFont typeface="Arial"/>
              <a:buNone/>
            </a:pPr>
            <a:r>
              <a:rPr lang="en-US" sz="6600"/>
              <a:t>System Overview</a:t>
            </a:r>
            <a:endParaRPr sz="6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1068279" y="249198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Application Characteristics</a:t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1138266" y="3726608"/>
            <a:ext cx="19260000" cy="4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Web-based application (mobile-ready)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Microservices-based backend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Event-driven where applicable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Cloud-native on Google Cloud Platform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220679" y="8662631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Users</a:t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1290666" y="9897253"/>
            <a:ext cx="192600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Customers</a:t>
            </a:r>
            <a:endParaRPr sz="4025">
              <a:solidFill>
                <a:srgbClr val="13294B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Admin/Operations users</a:t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1034729" y="1068325"/>
            <a:ext cx="1685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Non-Functional Requirements</a:t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1068278" y="2491975"/>
            <a:ext cx="6468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Scalability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1138270" y="3726600"/>
            <a:ext cx="80547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Horizontal scaling</a:t>
            </a:r>
            <a:endParaRPr sz="4025">
              <a:solidFill>
                <a:srgbClr val="13294B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Stateless services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034713" y="6773175"/>
            <a:ext cx="6468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Availability</a:t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1104705" y="8007800"/>
            <a:ext cx="80547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99.9% uptime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No single point of failure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14120247" y="2491975"/>
            <a:ext cx="6468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Performance</a:t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14190250" y="3726600"/>
            <a:ext cx="101094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Home page ≤ 3s</a:t>
            </a:r>
            <a:br>
              <a:rPr lang="en-US" sz="4025">
                <a:solidFill>
                  <a:schemeClr val="dk1"/>
                </a:solidFill>
              </a:rPr>
            </a:br>
            <a:endParaRPr sz="4025">
              <a:solidFill>
                <a:schemeClr val="dk1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Search ≤ 2s (api response + rendering)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14086681" y="6773175"/>
            <a:ext cx="6468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Security</a:t>
            </a:r>
            <a:endParaRPr/>
          </a:p>
        </p:txBody>
      </p:sp>
      <p:sp>
        <p:nvSpPr>
          <p:cNvPr id="72" name="Google Shape;72;p5"/>
          <p:cNvSpPr txBox="1"/>
          <p:nvPr/>
        </p:nvSpPr>
        <p:spPr>
          <a:xfrm>
            <a:off x="14156673" y="8007800"/>
            <a:ext cx="80547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OAuth2 / JWT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No card data storage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Encryption in transit &amp; at rest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1034715" y="1068316"/>
            <a:ext cx="12195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Logical Architecture Overview</a:t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1068279" y="249198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Architecture Layers</a:t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1138266" y="3633302"/>
            <a:ext cx="192600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Client Layer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Edge Layer (API Gateway)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Core Domain Services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Event-Driven Services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External Integrations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080720" y="896587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Key Principles</a:t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1150707" y="10200498"/>
            <a:ext cx="19260000" cy="3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Loose coupling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Database per service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Asynchronous communication</a:t>
            </a:r>
            <a:endParaRPr sz="4025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pic>
        <p:nvPicPr>
          <p:cNvPr id="83" name="Google Shape;83;p6" title="architecture-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6931" y="2302651"/>
            <a:ext cx="7752644" cy="110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657ff511_0_11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g3b4657ff511_0_11"/>
          <p:cNvSpPr txBox="1"/>
          <p:nvPr/>
        </p:nvSpPr>
        <p:spPr>
          <a:xfrm>
            <a:off x="1034715" y="1068316"/>
            <a:ext cx="12195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High-Level Solution Architecture</a:t>
            </a:r>
            <a:endParaRPr/>
          </a:p>
        </p:txBody>
      </p:sp>
      <p:pic>
        <p:nvPicPr>
          <p:cNvPr id="90" name="Google Shape;90;g3b4657ff511_0_11" title="solution-architectur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4352" y="2099648"/>
            <a:ext cx="13230275" cy="11342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b4657ff511_0_11"/>
          <p:cNvSpPr txBox="1"/>
          <p:nvPr/>
        </p:nvSpPr>
        <p:spPr>
          <a:xfrm>
            <a:off x="820450" y="3648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b4657ff511_0_11"/>
          <p:cNvSpPr txBox="1"/>
          <p:nvPr/>
        </p:nvSpPr>
        <p:spPr>
          <a:xfrm>
            <a:off x="1068275" y="3523475"/>
            <a:ext cx="7238700" cy="4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49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25"/>
              <a:buChar char="•"/>
            </a:pPr>
            <a:r>
              <a:rPr b="1" lang="en-US" sz="3500"/>
              <a:t>H</a:t>
            </a:r>
            <a:r>
              <a:rPr b="1" lang="en-US" sz="3500"/>
              <a:t>igh Availability</a:t>
            </a:r>
            <a:endParaRPr sz="3500"/>
          </a:p>
          <a:p>
            <a:pPr indent="-5349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25"/>
              <a:buChar char="•"/>
            </a:pPr>
            <a:r>
              <a:rPr b="1" lang="en-US" sz="3500"/>
              <a:t>Independent Service Evolution</a:t>
            </a:r>
            <a:endParaRPr sz="3500"/>
          </a:p>
          <a:p>
            <a:pPr indent="-5349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25"/>
              <a:buChar char="•"/>
            </a:pPr>
            <a:r>
              <a:rPr b="1" lang="en-US" sz="3500"/>
              <a:t>Secure Integrations</a:t>
            </a:r>
            <a:endParaRPr sz="3500"/>
          </a:p>
          <a:p>
            <a:pPr indent="-5349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25"/>
              <a:buChar char="•"/>
            </a:pPr>
            <a:r>
              <a:rPr b="1" lang="en-US" sz="3500"/>
              <a:t>Operational Resilience</a:t>
            </a:r>
            <a:endParaRPr sz="4825">
              <a:solidFill>
                <a:schemeClr val="dk1"/>
              </a:solidFill>
            </a:endParaRPr>
          </a:p>
        </p:txBody>
      </p:sp>
      <p:sp>
        <p:nvSpPr>
          <p:cNvPr id="93" name="Google Shape;93;g3b4657ff511_0_11"/>
          <p:cNvSpPr txBox="1"/>
          <p:nvPr/>
        </p:nvSpPr>
        <p:spPr>
          <a:xfrm>
            <a:off x="1068279" y="249198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A</a:t>
            </a:r>
            <a:r>
              <a:rPr lang="en-US" sz="5225">
                <a:solidFill>
                  <a:schemeClr val="dk1"/>
                </a:solidFill>
              </a:rPr>
              <a:t>rchitecture enables</a:t>
            </a:r>
            <a:endParaRPr/>
          </a:p>
        </p:txBody>
      </p:sp>
      <p:sp>
        <p:nvSpPr>
          <p:cNvPr id="94" name="Google Shape;94;g3b4657ff511_0_11"/>
          <p:cNvSpPr txBox="1"/>
          <p:nvPr/>
        </p:nvSpPr>
        <p:spPr>
          <a:xfrm>
            <a:off x="782150" y="10652750"/>
            <a:ext cx="91722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This architecture enables </a:t>
            </a:r>
            <a:r>
              <a:rPr lang="en-US" sz="3500"/>
              <a:t>the </a:t>
            </a:r>
            <a:r>
              <a:rPr lang="en-US" sz="3500"/>
              <a:t>platform to be</a:t>
            </a:r>
            <a:r>
              <a:rPr lang="en-US" sz="3500"/>
              <a:t> ready for large-scale e-commerce workloads.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4657ff511_0_0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g3b4657ff511_0_0"/>
          <p:cNvSpPr txBox="1"/>
          <p:nvPr/>
        </p:nvSpPr>
        <p:spPr>
          <a:xfrm>
            <a:off x="1034715" y="1068316"/>
            <a:ext cx="12195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High-Level Solution Architecture</a:t>
            </a:r>
            <a:endParaRPr/>
          </a:p>
        </p:txBody>
      </p:sp>
      <p:sp>
        <p:nvSpPr>
          <p:cNvPr id="101" name="Google Shape;101;g3b4657ff511_0_0"/>
          <p:cNvSpPr txBox="1"/>
          <p:nvPr/>
        </p:nvSpPr>
        <p:spPr>
          <a:xfrm>
            <a:off x="1068277" y="2491975"/>
            <a:ext cx="1068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Key Architectural Highlights</a:t>
            </a:r>
            <a:endParaRPr sz="4000"/>
          </a:p>
        </p:txBody>
      </p:sp>
      <p:sp>
        <p:nvSpPr>
          <p:cNvPr id="102" name="Google Shape;102;g3b4657ff511_0_0"/>
          <p:cNvSpPr txBox="1"/>
          <p:nvPr/>
        </p:nvSpPr>
        <p:spPr>
          <a:xfrm>
            <a:off x="1034725" y="3191525"/>
            <a:ext cx="95277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b="1" lang="en-US" sz="2200">
                <a:solidFill>
                  <a:srgbClr val="13294B"/>
                </a:solidFill>
              </a:rPr>
              <a:t>Public/DMZ Zone</a:t>
            </a:r>
            <a:r>
              <a:rPr lang="en-US" sz="2200">
                <a:solidFill>
                  <a:srgbClr val="13294B"/>
                </a:solidFill>
              </a:rPr>
              <a:t> handles client access via CDN, WAF, Load Balancer, and API Gateway.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b="1" lang="en-US" sz="2200">
                <a:solidFill>
                  <a:srgbClr val="13294B"/>
                </a:solidFill>
              </a:rPr>
              <a:t>Private Zone</a:t>
            </a:r>
            <a:r>
              <a:rPr lang="en-US" sz="2200">
                <a:solidFill>
                  <a:srgbClr val="13294B"/>
                </a:solidFill>
              </a:rPr>
              <a:t> hosts all core microservices and business logic.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b="1" lang="en-US" sz="2200">
                <a:solidFill>
                  <a:srgbClr val="13294B"/>
                </a:solidFill>
              </a:rPr>
              <a:t>Management Zone</a:t>
            </a:r>
            <a:r>
              <a:rPr lang="en-US" sz="2200">
                <a:solidFill>
                  <a:srgbClr val="13294B"/>
                </a:solidFill>
              </a:rPr>
              <a:t> manages security, observability, CI/CD, and operational controls.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E</a:t>
            </a:r>
            <a:r>
              <a:rPr b="1" lang="en-US" sz="2200">
                <a:solidFill>
                  <a:srgbClr val="13294B"/>
                </a:solidFill>
              </a:rPr>
              <a:t>xternal Systems</a:t>
            </a:r>
            <a:r>
              <a:rPr lang="en-US" sz="2200">
                <a:solidFill>
                  <a:srgbClr val="13294B"/>
                </a:solidFill>
              </a:rPr>
              <a:t> remain outside the trust boundary and are accessed via secure integrations.</a:t>
            </a:r>
            <a:endParaRPr sz="2200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</p:txBody>
      </p:sp>
      <p:sp>
        <p:nvSpPr>
          <p:cNvPr id="103" name="Google Shape;103;g3b4657ff511_0_0"/>
          <p:cNvSpPr txBox="1"/>
          <p:nvPr/>
        </p:nvSpPr>
        <p:spPr>
          <a:xfrm>
            <a:off x="1068272" y="7103575"/>
            <a:ext cx="1081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Microservices &amp; Domain Ownership</a:t>
            </a:r>
            <a:endParaRPr sz="4000"/>
          </a:p>
        </p:txBody>
      </p:sp>
      <p:sp>
        <p:nvSpPr>
          <p:cNvPr id="104" name="Google Shape;104;g3b4657ff511_0_0"/>
          <p:cNvSpPr txBox="1"/>
          <p:nvPr/>
        </p:nvSpPr>
        <p:spPr>
          <a:xfrm>
            <a:off x="1087599" y="7844375"/>
            <a:ext cx="99117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Loose coupling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Database per service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Asynchronous communication</a:t>
            </a:r>
            <a:endParaRPr sz="2200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</p:txBody>
      </p:sp>
      <p:sp>
        <p:nvSpPr>
          <p:cNvPr id="105" name="Google Shape;105;g3b4657ff511_0_0"/>
          <p:cNvSpPr txBox="1"/>
          <p:nvPr/>
        </p:nvSpPr>
        <p:spPr>
          <a:xfrm>
            <a:off x="1199633" y="10453558"/>
            <a:ext cx="2177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Event-Driven Architecture</a:t>
            </a:r>
            <a:endParaRPr sz="4000"/>
          </a:p>
        </p:txBody>
      </p:sp>
      <p:sp>
        <p:nvSpPr>
          <p:cNvPr id="106" name="Google Shape;106;g3b4657ff511_0_0"/>
          <p:cNvSpPr txBox="1"/>
          <p:nvPr/>
        </p:nvSpPr>
        <p:spPr>
          <a:xfrm>
            <a:off x="1218955" y="11194362"/>
            <a:ext cx="9911700" cy="22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Asynchronous communication via an event bus enables loose coupling.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Domain events drive workflows such as order processing, payment updates, inventory reservation, and notifications.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</p:txBody>
      </p:sp>
      <p:sp>
        <p:nvSpPr>
          <p:cNvPr id="107" name="Google Shape;107;g3b4657ff511_0_0"/>
          <p:cNvSpPr txBox="1"/>
          <p:nvPr/>
        </p:nvSpPr>
        <p:spPr>
          <a:xfrm>
            <a:off x="13480479" y="7103586"/>
            <a:ext cx="1021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Security by Design</a:t>
            </a:r>
            <a:endParaRPr sz="4000"/>
          </a:p>
        </p:txBody>
      </p:sp>
      <p:sp>
        <p:nvSpPr>
          <p:cNvPr id="108" name="Google Shape;108;g3b4657ff511_0_0"/>
          <p:cNvSpPr txBox="1"/>
          <p:nvPr/>
        </p:nvSpPr>
        <p:spPr>
          <a:xfrm>
            <a:off x="13499801" y="7844400"/>
            <a:ext cx="8654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Centralized authentication and authorization.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TLS everywhere, secrets management, IAM-based access control.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No sensitive payment data stored within the platform (PCI-DSS compliant).</a:t>
            </a:r>
            <a:endParaRPr sz="2200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3294B"/>
              </a:solidFill>
            </a:endParaRPr>
          </a:p>
        </p:txBody>
      </p:sp>
      <p:sp>
        <p:nvSpPr>
          <p:cNvPr id="109" name="Google Shape;109;g3b4657ff511_0_0"/>
          <p:cNvSpPr txBox="1"/>
          <p:nvPr/>
        </p:nvSpPr>
        <p:spPr>
          <a:xfrm>
            <a:off x="13480479" y="2491975"/>
            <a:ext cx="1003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Scalability, Observability &amp; Operations</a:t>
            </a:r>
            <a:endParaRPr sz="4000"/>
          </a:p>
        </p:txBody>
      </p:sp>
      <p:sp>
        <p:nvSpPr>
          <p:cNvPr id="110" name="Google Shape;110;g3b4657ff511_0_0"/>
          <p:cNvSpPr txBox="1"/>
          <p:nvPr/>
        </p:nvSpPr>
        <p:spPr>
          <a:xfrm>
            <a:off x="13499801" y="3232775"/>
            <a:ext cx="8485800" cy="22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Horizontal scaling of stateless services.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Centralized logging, metrics, tracing, and dashboards.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Automated CI/CD pipelines with containerized deployments on Kubernetes.</a:t>
            </a:r>
            <a:br>
              <a:rPr lang="en-US" sz="2200">
                <a:solidFill>
                  <a:srgbClr val="13294B"/>
                </a:solidFill>
              </a:rPr>
            </a:br>
            <a:endParaRPr sz="2200">
              <a:solidFill>
                <a:srgbClr val="13294B"/>
              </a:solidFill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200"/>
              <a:buChar char="•"/>
            </a:pPr>
            <a:r>
              <a:rPr lang="en-US" sz="2200">
                <a:solidFill>
                  <a:srgbClr val="13294B"/>
                </a:solidFill>
              </a:rPr>
              <a:t>Built-in backup and disaster recovery mechanisms.</a:t>
            </a:r>
            <a:endParaRPr sz="2200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/>
          <p:nvPr/>
        </p:nvSpPr>
        <p:spPr>
          <a:xfrm>
            <a:off x="1034715" y="1068316"/>
            <a:ext cx="12195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Frontend Architecture (SSR)</a:t>
            </a:r>
            <a:endParaRPr/>
          </a:p>
        </p:txBody>
      </p:sp>
      <p:sp>
        <p:nvSpPr>
          <p:cNvPr id="116" name="Google Shape;116;p7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1068279" y="2352027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Frontend Design</a:t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1138266" y="3306731"/>
            <a:ext cx="192600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Angular-based UI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Server-Side Rendering (SSR)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Deployed inside GKE cluster</a:t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1057393" y="6726529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Benefits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1127381" y="7727886"/>
            <a:ext cx="192600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Faster initial page load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Improved SEO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Better performance on low-end devices</a:t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4194516" y="2352023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Communication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14264503" y="3400033"/>
            <a:ext cx="19260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HTTPS via GCP API Gateway</a:t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/>
        </p:nvSpPr>
        <p:spPr>
          <a:xfrm>
            <a:off x="457200" y="1047590"/>
            <a:ext cx="12195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Core Backend Services</a:t>
            </a:r>
            <a:endParaRPr/>
          </a:p>
        </p:txBody>
      </p:sp>
      <p:sp>
        <p:nvSpPr>
          <p:cNvPr id="128" name="Google Shape;128;p8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636077" y="6984196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1068277" y="2491975"/>
            <a:ext cx="97107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Core Domain Services</a:t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1184921" y="3607150"/>
            <a:ext cx="9594000" cy="80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Product Catalog Service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Search Service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Cart Service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Order Service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Inventory Service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Payment Service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Notification Service</a:t>
            </a:r>
            <a:endParaRPr sz="4025">
              <a:solidFill>
                <a:srgbClr val="13294B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Product-indexer Service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13677044" y="2481089"/>
            <a:ext cx="97107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Each service:</a:t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13793688" y="3596264"/>
            <a:ext cx="95940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Independently deployable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Owns its data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Horizontally scalable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945174" y="986560"/>
            <a:ext cx="12195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Authentication &amp; Security</a:t>
            </a:r>
            <a:endParaRPr/>
          </a:p>
        </p:txBody>
      </p:sp>
      <p:sp>
        <p:nvSpPr>
          <p:cNvPr id="139" name="Google Shape;139;p9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1068279" y="249198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Authentication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1138271" y="3726600"/>
            <a:ext cx="95418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In-house Authentication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Email/password &amp; social login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1127373" y="6749855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Authorization</a:t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1197355" y="7984475"/>
            <a:ext cx="101436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JWT validation at API Gateway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Role-based access control in services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Custom claims</a:t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13585401" y="2491975"/>
            <a:ext cx="95418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Security Practices</a:t>
            </a:r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13616075" y="3726599"/>
            <a:ext cx="84411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TLS everywhere</a:t>
            </a:r>
            <a:endParaRPr sz="4025">
              <a:solidFill>
                <a:srgbClr val="13294B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Least privilege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No sensitive data exposure</a:t>
            </a:r>
            <a:endParaRPr sz="4025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/>
        </p:nvSpPr>
        <p:spPr>
          <a:xfrm>
            <a:off x="945173" y="986560"/>
            <a:ext cx="1763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Interaction Flows</a:t>
            </a:r>
            <a:endParaRPr/>
          </a:p>
        </p:txBody>
      </p:sp>
      <p:sp>
        <p:nvSpPr>
          <p:cNvPr id="151" name="Google Shape;151;p10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1068279" y="249198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Sequence Diagrams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1206948" y="3718250"/>
            <a:ext cx="266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1. </a:t>
            </a:r>
            <a:r>
              <a:rPr lang="en-US" sz="4000">
                <a:solidFill>
                  <a:schemeClr val="dk1"/>
                </a:solidFill>
              </a:rPr>
              <a:t>Sign up</a:t>
            </a:r>
            <a:endParaRPr sz="4000"/>
          </a:p>
        </p:txBody>
      </p:sp>
      <p:pic>
        <p:nvPicPr>
          <p:cNvPr id="154" name="Google Shape;154;p10" title="auth-flow-sign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4775" y="3552748"/>
            <a:ext cx="12724149" cy="923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83cf0cf24_0_13"/>
          <p:cNvSpPr txBox="1"/>
          <p:nvPr/>
        </p:nvSpPr>
        <p:spPr>
          <a:xfrm>
            <a:off x="945173" y="986560"/>
            <a:ext cx="1763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Interaction Flows</a:t>
            </a:r>
            <a:endParaRPr/>
          </a:p>
        </p:txBody>
      </p:sp>
      <p:sp>
        <p:nvSpPr>
          <p:cNvPr id="160" name="Google Shape;160;g3b83cf0cf24_0_13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g3b83cf0cf24_0_13"/>
          <p:cNvSpPr txBox="1"/>
          <p:nvPr/>
        </p:nvSpPr>
        <p:spPr>
          <a:xfrm>
            <a:off x="1068279" y="249198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Sequence Diagrams</a:t>
            </a:r>
            <a:endParaRPr/>
          </a:p>
        </p:txBody>
      </p:sp>
      <p:sp>
        <p:nvSpPr>
          <p:cNvPr id="162" name="Google Shape;162;g3b83cf0cf24_0_13"/>
          <p:cNvSpPr txBox="1"/>
          <p:nvPr/>
        </p:nvSpPr>
        <p:spPr>
          <a:xfrm>
            <a:off x="1206948" y="3718250"/>
            <a:ext cx="266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2. Login</a:t>
            </a:r>
            <a:endParaRPr sz="4000"/>
          </a:p>
        </p:txBody>
      </p:sp>
      <p:pic>
        <p:nvPicPr>
          <p:cNvPr id="163" name="Google Shape;163;g3b83cf0cf24_0_13" title="auth-flow-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1261" y="3592025"/>
            <a:ext cx="10736313" cy="89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83cf0cf24_0_31"/>
          <p:cNvSpPr txBox="1"/>
          <p:nvPr/>
        </p:nvSpPr>
        <p:spPr>
          <a:xfrm>
            <a:off x="945173" y="986560"/>
            <a:ext cx="1763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Interaction Flows</a:t>
            </a:r>
            <a:endParaRPr/>
          </a:p>
        </p:txBody>
      </p:sp>
      <p:sp>
        <p:nvSpPr>
          <p:cNvPr id="169" name="Google Shape;169;g3b83cf0cf24_0_31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g3b83cf0cf24_0_31"/>
          <p:cNvSpPr txBox="1"/>
          <p:nvPr/>
        </p:nvSpPr>
        <p:spPr>
          <a:xfrm>
            <a:off x="1206950" y="3718250"/>
            <a:ext cx="502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3</a:t>
            </a:r>
            <a:r>
              <a:rPr lang="en-US" sz="4000">
                <a:solidFill>
                  <a:schemeClr val="dk1"/>
                </a:solidFill>
              </a:rPr>
              <a:t>. Product Search</a:t>
            </a:r>
            <a:endParaRPr sz="4000"/>
          </a:p>
        </p:txBody>
      </p:sp>
      <p:sp>
        <p:nvSpPr>
          <p:cNvPr id="171" name="Google Shape;171;g3b83cf0cf24_0_31"/>
          <p:cNvSpPr txBox="1"/>
          <p:nvPr/>
        </p:nvSpPr>
        <p:spPr>
          <a:xfrm>
            <a:off x="1059692" y="2491985"/>
            <a:ext cx="65157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Sequence Diagrams</a:t>
            </a:r>
            <a:endParaRPr/>
          </a:p>
        </p:txBody>
      </p:sp>
      <p:pic>
        <p:nvPicPr>
          <p:cNvPr id="172" name="Google Shape;172;g3b83cf0cf24_0_31" title="product-search-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250" y="2351975"/>
            <a:ext cx="16489751" cy="102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cb6711032_0_1"/>
          <p:cNvSpPr txBox="1"/>
          <p:nvPr/>
        </p:nvSpPr>
        <p:spPr>
          <a:xfrm>
            <a:off x="945173" y="986560"/>
            <a:ext cx="1763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Interaction Flows</a:t>
            </a:r>
            <a:endParaRPr/>
          </a:p>
        </p:txBody>
      </p:sp>
      <p:sp>
        <p:nvSpPr>
          <p:cNvPr id="178" name="Google Shape;178;g3ecb6711032_0_1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g3ecb6711032_0_1"/>
          <p:cNvSpPr txBox="1"/>
          <p:nvPr/>
        </p:nvSpPr>
        <p:spPr>
          <a:xfrm>
            <a:off x="1206950" y="3718250"/>
            <a:ext cx="502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4</a:t>
            </a:r>
            <a:r>
              <a:rPr lang="en-US" sz="4000">
                <a:solidFill>
                  <a:schemeClr val="dk1"/>
                </a:solidFill>
              </a:rPr>
              <a:t>. Search Indexing</a:t>
            </a:r>
            <a:endParaRPr sz="4000"/>
          </a:p>
        </p:txBody>
      </p:sp>
      <p:sp>
        <p:nvSpPr>
          <p:cNvPr id="180" name="Google Shape;180;g3ecb6711032_0_1"/>
          <p:cNvSpPr txBox="1"/>
          <p:nvPr/>
        </p:nvSpPr>
        <p:spPr>
          <a:xfrm>
            <a:off x="1059692" y="2491985"/>
            <a:ext cx="65157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Sequence Diagrams</a:t>
            </a:r>
            <a:endParaRPr/>
          </a:p>
        </p:txBody>
      </p:sp>
      <p:pic>
        <p:nvPicPr>
          <p:cNvPr id="181" name="Google Shape;181;g3ecb6711032_0_1" title="search-indexing-sync-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5400" y="2491975"/>
            <a:ext cx="16808602" cy="10598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3cf0cf24_0_22"/>
          <p:cNvSpPr txBox="1"/>
          <p:nvPr/>
        </p:nvSpPr>
        <p:spPr>
          <a:xfrm>
            <a:off x="945173" y="986560"/>
            <a:ext cx="1763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Interaction Flows</a:t>
            </a:r>
            <a:endParaRPr/>
          </a:p>
        </p:txBody>
      </p:sp>
      <p:sp>
        <p:nvSpPr>
          <p:cNvPr id="187" name="Google Shape;187;g3b83cf0cf24_0_22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g3b83cf0cf24_0_22"/>
          <p:cNvSpPr txBox="1"/>
          <p:nvPr/>
        </p:nvSpPr>
        <p:spPr>
          <a:xfrm>
            <a:off x="1206950" y="3718250"/>
            <a:ext cx="304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5. Checkout</a:t>
            </a:r>
            <a:endParaRPr sz="4000"/>
          </a:p>
        </p:txBody>
      </p:sp>
      <p:pic>
        <p:nvPicPr>
          <p:cNvPr id="189" name="Google Shape;189;g3b83cf0cf24_0_22" title="checkout-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7300" y="1960781"/>
            <a:ext cx="17115526" cy="105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b83cf0cf24_0_22"/>
          <p:cNvSpPr txBox="1"/>
          <p:nvPr/>
        </p:nvSpPr>
        <p:spPr>
          <a:xfrm>
            <a:off x="1059692" y="2491985"/>
            <a:ext cx="65157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Sequence Diagrams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cb9c2754a_0_0"/>
          <p:cNvSpPr txBox="1"/>
          <p:nvPr/>
        </p:nvSpPr>
        <p:spPr>
          <a:xfrm>
            <a:off x="945173" y="986560"/>
            <a:ext cx="1763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Interaction Flows</a:t>
            </a:r>
            <a:endParaRPr/>
          </a:p>
        </p:txBody>
      </p:sp>
      <p:sp>
        <p:nvSpPr>
          <p:cNvPr id="196" name="Google Shape;196;g3ecb9c2754a_0_0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ecb9c2754a_0_0"/>
          <p:cNvSpPr txBox="1"/>
          <p:nvPr/>
        </p:nvSpPr>
        <p:spPr>
          <a:xfrm>
            <a:off x="1206950" y="3718250"/>
            <a:ext cx="512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6</a:t>
            </a:r>
            <a:r>
              <a:rPr lang="en-US" sz="4000">
                <a:solidFill>
                  <a:schemeClr val="dk1"/>
                </a:solidFill>
              </a:rPr>
              <a:t>. Image Upload</a:t>
            </a:r>
            <a:endParaRPr sz="4000"/>
          </a:p>
        </p:txBody>
      </p:sp>
      <p:sp>
        <p:nvSpPr>
          <p:cNvPr id="198" name="Google Shape;198;g3ecb9c2754a_0_0"/>
          <p:cNvSpPr txBox="1"/>
          <p:nvPr/>
        </p:nvSpPr>
        <p:spPr>
          <a:xfrm>
            <a:off x="1059692" y="2491985"/>
            <a:ext cx="65157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Sequence Diagrams</a:t>
            </a:r>
            <a:endParaRPr/>
          </a:p>
        </p:txBody>
      </p:sp>
      <p:pic>
        <p:nvPicPr>
          <p:cNvPr id="199" name="Google Shape;199;g3ecb9c2754a_0_0" title="product-image-up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350" y="2044050"/>
            <a:ext cx="16198650" cy="116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cb9c2754a_0_9"/>
          <p:cNvSpPr txBox="1"/>
          <p:nvPr/>
        </p:nvSpPr>
        <p:spPr>
          <a:xfrm>
            <a:off x="945173" y="986560"/>
            <a:ext cx="1763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Interaction Flows</a:t>
            </a:r>
            <a:endParaRPr/>
          </a:p>
        </p:txBody>
      </p:sp>
      <p:sp>
        <p:nvSpPr>
          <p:cNvPr id="205" name="Google Shape;205;g3ecb9c2754a_0_9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g3ecb9c2754a_0_9"/>
          <p:cNvSpPr txBox="1"/>
          <p:nvPr/>
        </p:nvSpPr>
        <p:spPr>
          <a:xfrm>
            <a:off x="1206950" y="3718250"/>
            <a:ext cx="512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7</a:t>
            </a:r>
            <a:r>
              <a:rPr lang="en-US" sz="4000">
                <a:solidFill>
                  <a:schemeClr val="dk1"/>
                </a:solidFill>
              </a:rPr>
              <a:t>. Image Read</a:t>
            </a:r>
            <a:endParaRPr sz="4000"/>
          </a:p>
        </p:txBody>
      </p:sp>
      <p:sp>
        <p:nvSpPr>
          <p:cNvPr id="207" name="Google Shape;207;g3ecb9c2754a_0_9"/>
          <p:cNvSpPr txBox="1"/>
          <p:nvPr/>
        </p:nvSpPr>
        <p:spPr>
          <a:xfrm>
            <a:off x="1059692" y="2491985"/>
            <a:ext cx="65157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Sequence Diagrams</a:t>
            </a:r>
            <a:endParaRPr/>
          </a:p>
        </p:txBody>
      </p:sp>
      <p:pic>
        <p:nvPicPr>
          <p:cNvPr id="208" name="Google Shape;208;g3ecb9c2754a_0_9" title="product-image-re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7800" y="2491975"/>
            <a:ext cx="16366199" cy="10894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cbc8985b3_0_0"/>
          <p:cNvSpPr txBox="1"/>
          <p:nvPr/>
        </p:nvSpPr>
        <p:spPr>
          <a:xfrm>
            <a:off x="945173" y="986560"/>
            <a:ext cx="1763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/>
              <a:t>Key Interaction Flows</a:t>
            </a:r>
            <a:endParaRPr/>
          </a:p>
        </p:txBody>
      </p:sp>
      <p:sp>
        <p:nvSpPr>
          <p:cNvPr id="214" name="Google Shape;214;g3ecbc8985b3_0_0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g3ecbc8985b3_0_0"/>
          <p:cNvSpPr txBox="1"/>
          <p:nvPr/>
        </p:nvSpPr>
        <p:spPr>
          <a:xfrm>
            <a:off x="1206950" y="3718250"/>
            <a:ext cx="512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8</a:t>
            </a:r>
            <a:r>
              <a:rPr lang="en-US" sz="4000">
                <a:solidFill>
                  <a:schemeClr val="dk1"/>
                </a:solidFill>
              </a:rPr>
              <a:t>. Gateway install</a:t>
            </a:r>
            <a:endParaRPr sz="4000"/>
          </a:p>
        </p:txBody>
      </p:sp>
      <p:sp>
        <p:nvSpPr>
          <p:cNvPr id="216" name="Google Shape;216;g3ecbc8985b3_0_0"/>
          <p:cNvSpPr txBox="1"/>
          <p:nvPr/>
        </p:nvSpPr>
        <p:spPr>
          <a:xfrm>
            <a:off x="1059692" y="2491985"/>
            <a:ext cx="65157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Sequence Diagrams</a:t>
            </a:r>
            <a:endParaRPr/>
          </a:p>
        </p:txBody>
      </p:sp>
      <p:pic>
        <p:nvPicPr>
          <p:cNvPr id="217" name="Google Shape;217;g3ecbc8985b3_0_0" title="gateway-insta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0525" y="3522775"/>
            <a:ext cx="16153475" cy="8679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1"/>
          <p:cNvSpPr txBox="1"/>
          <p:nvPr>
            <p:ph type="title"/>
          </p:nvPr>
        </p:nvSpPr>
        <p:spPr>
          <a:xfrm>
            <a:off x="1068266" y="101288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6600"/>
              <a:t>Integration Architecture</a:t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1068279" y="249198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External Integrations</a:t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1138266" y="3726608"/>
            <a:ext cx="192600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Payment Gateways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Notification Providers (Email/SMS)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Analytics Platforms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1138279" y="8242750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Design Approach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1208266" y="9477372"/>
            <a:ext cx="192600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No direct frontend-to-external calls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Integration via dedicated services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Timeouts, retries, circuit breakers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>
            <p:ph type="title"/>
          </p:nvPr>
        </p:nvSpPr>
        <p:spPr>
          <a:xfrm>
            <a:off x="1068266" y="101288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7D7AC"/>
              </a:buClr>
              <a:buSzPts val="6600"/>
              <a:buFont typeface="Arial"/>
              <a:buNone/>
            </a:pPr>
            <a:r>
              <a:rPr lang="en-US" sz="6600"/>
              <a:t>Deployment Architecture</a:t>
            </a:r>
            <a:endParaRPr/>
          </a:p>
        </p:txBody>
      </p:sp>
      <p:sp>
        <p:nvSpPr>
          <p:cNvPr id="233" name="Google Shape;233;p12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1068279" y="2375353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Deployment Model</a:t>
            </a:r>
            <a:endParaRPr/>
          </a:p>
        </p:txBody>
      </p:sp>
      <p:sp>
        <p:nvSpPr>
          <p:cNvPr id="235" name="Google Shape;235;p12"/>
          <p:cNvSpPr txBox="1"/>
          <p:nvPr/>
        </p:nvSpPr>
        <p:spPr>
          <a:xfrm>
            <a:off x="1059600" y="3430650"/>
            <a:ext cx="7651800" cy="6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Containerized microservices</a:t>
            </a:r>
            <a:endParaRPr sz="4025">
              <a:solidFill>
                <a:srgbClr val="13294B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Google Kubernetes Engine</a:t>
            </a:r>
            <a:endParaRPr sz="402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chemeClr val="dk1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GCP API Gateway as entry point</a:t>
            </a:r>
            <a:endParaRPr sz="402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chemeClr val="dk1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Zonal Fault-Tolerant</a:t>
            </a:r>
            <a:r>
              <a:rPr lang="en-US" sz="4025">
                <a:solidFill>
                  <a:srgbClr val="13294B"/>
                </a:solidFill>
              </a:rPr>
              <a:t> via multiple availability zones    </a:t>
            </a:r>
            <a:endParaRPr sz="4025">
              <a:solidFill>
                <a:srgbClr val="13294B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GKE Namespace for </a:t>
            </a:r>
            <a:r>
              <a:rPr lang="en-US" sz="4025">
                <a:solidFill>
                  <a:schemeClr val="dk1"/>
                </a:solidFill>
              </a:rPr>
              <a:t>workload </a:t>
            </a:r>
            <a:r>
              <a:rPr lang="en-US" sz="4025">
                <a:solidFill>
                  <a:srgbClr val="13294B"/>
                </a:solidFill>
              </a:rPr>
              <a:t>Isolation</a:t>
            </a:r>
            <a:endParaRPr sz="4025">
              <a:solidFill>
                <a:srgbClr val="13294B"/>
              </a:solidFill>
            </a:endParaRPr>
          </a:p>
        </p:txBody>
      </p:sp>
      <p:pic>
        <p:nvPicPr>
          <p:cNvPr id="236" name="Google Shape;236;p12" title="deployment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6225" y="2262525"/>
            <a:ext cx="16175652" cy="1114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8893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8893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 txBox="1"/>
          <p:nvPr>
            <p:ph type="title"/>
          </p:nvPr>
        </p:nvSpPr>
        <p:spPr>
          <a:xfrm>
            <a:off x="1068266" y="101288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6600"/>
              <a:t>CI/CD &amp; DevOps</a:t>
            </a:r>
            <a:endParaRPr/>
          </a:p>
        </p:txBody>
      </p:sp>
      <p:sp>
        <p:nvSpPr>
          <p:cNvPr id="244" name="Google Shape;244;p13"/>
          <p:cNvSpPr txBox="1"/>
          <p:nvPr/>
        </p:nvSpPr>
        <p:spPr>
          <a:xfrm>
            <a:off x="1068278" y="2491975"/>
            <a:ext cx="7658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CI/CD Pipeline</a:t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1138270" y="3726600"/>
            <a:ext cx="85677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Cloud Build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Automated testing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Docker image creation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Push to Artifact Registry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Deploy to GKE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1080718" y="9152477"/>
            <a:ext cx="76581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Key Principles</a:t>
            </a:r>
            <a:endParaRPr/>
          </a:p>
        </p:txBody>
      </p:sp>
      <p:sp>
        <p:nvSpPr>
          <p:cNvPr id="247" name="Google Shape;247;p13"/>
          <p:cNvSpPr txBox="1"/>
          <p:nvPr/>
        </p:nvSpPr>
        <p:spPr>
          <a:xfrm>
            <a:off x="1150711" y="10387102"/>
            <a:ext cx="8567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Build once, deploy many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Immutable deployments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Automated rollbacks</a:t>
            </a:r>
            <a:endParaRPr sz="4025">
              <a:solidFill>
                <a:srgbClr val="13294B"/>
              </a:solidFill>
            </a:endParaRPr>
          </a:p>
        </p:txBody>
      </p:sp>
      <p:pic>
        <p:nvPicPr>
          <p:cNvPr id="248" name="Google Shape;248;p13" title="cicd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9391" y="1291991"/>
            <a:ext cx="12279526" cy="1222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14"/>
          <p:cNvSpPr txBox="1"/>
          <p:nvPr>
            <p:ph type="title"/>
          </p:nvPr>
        </p:nvSpPr>
        <p:spPr>
          <a:xfrm>
            <a:off x="1068266" y="101288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 sz="6600"/>
              <a:t>Data Architecture</a:t>
            </a: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1068277" y="2491975"/>
            <a:ext cx="104805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Polyglot Persistence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1138275" y="3726600"/>
            <a:ext cx="12600900" cy="4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PostgreSQL – Orders, users, payments, Inventory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Firestore – Product catalog, </a:t>
            </a:r>
            <a:r>
              <a:rPr lang="en-US" sz="4025">
                <a:solidFill>
                  <a:schemeClr val="dk1"/>
                </a:solidFill>
              </a:rPr>
              <a:t>C</a:t>
            </a:r>
            <a:r>
              <a:rPr lang="en-US" sz="4025">
                <a:solidFill>
                  <a:schemeClr val="dk1"/>
                </a:solidFill>
              </a:rPr>
              <a:t>art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Redis – Cache, sessions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Search index – Full-text search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1057391" y="8476008"/>
            <a:ext cx="104805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Consistency Model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1127386" y="9710633"/>
            <a:ext cx="115770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Strong consistency: orders, payments, inventory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Eventual consistency: analytics, reports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5c94efb17_0_5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g3b5c94efb17_0_5"/>
          <p:cNvSpPr txBox="1"/>
          <p:nvPr>
            <p:ph type="title"/>
          </p:nvPr>
        </p:nvSpPr>
        <p:spPr>
          <a:xfrm>
            <a:off x="1068266" y="101288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 sz="6600"/>
              <a:t>High-Level Entity Relationship Diagram</a:t>
            </a:r>
            <a:endParaRPr/>
          </a:p>
        </p:txBody>
      </p:sp>
      <p:sp>
        <p:nvSpPr>
          <p:cNvPr id="265" name="Google Shape;265;g3b5c94efb17_0_5"/>
          <p:cNvSpPr txBox="1"/>
          <p:nvPr/>
        </p:nvSpPr>
        <p:spPr>
          <a:xfrm>
            <a:off x="984125" y="2554225"/>
            <a:ext cx="85476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The following Auth Domain ER diagram represents the core business entities and their relationships at a conceptual level.</a:t>
            </a:r>
            <a:endParaRPr sz="4025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pic>
        <p:nvPicPr>
          <p:cNvPr id="266" name="Google Shape;266;g3b5c94efb17_0_5" title="er-auth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3221" y="2548776"/>
            <a:ext cx="13219474" cy="10071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83cf0cf24_0_44"/>
          <p:cNvSpPr txBox="1"/>
          <p:nvPr>
            <p:ph idx="12" type="sldNum"/>
          </p:nvPr>
        </p:nvSpPr>
        <p:spPr>
          <a:xfrm>
            <a:off x="23264101" y="12651876"/>
            <a:ext cx="4077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g3b83cf0cf24_0_44"/>
          <p:cNvSpPr txBox="1"/>
          <p:nvPr>
            <p:ph type="title"/>
          </p:nvPr>
        </p:nvSpPr>
        <p:spPr>
          <a:xfrm>
            <a:off x="1068266" y="101288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 sz="6600"/>
              <a:t>High-Level Entity Relationship Diagram</a:t>
            </a:r>
            <a:endParaRPr/>
          </a:p>
        </p:txBody>
      </p:sp>
      <p:sp>
        <p:nvSpPr>
          <p:cNvPr id="273" name="Google Shape;273;g3b83cf0cf24_0_44"/>
          <p:cNvSpPr txBox="1"/>
          <p:nvPr/>
        </p:nvSpPr>
        <p:spPr>
          <a:xfrm>
            <a:off x="984125" y="2554225"/>
            <a:ext cx="85476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The following User Domain ER diagram represents the core business entities and their relationships at a conceptual level.</a:t>
            </a:r>
            <a:endParaRPr sz="4025">
              <a:solidFill>
                <a:srgbClr val="13294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pic>
        <p:nvPicPr>
          <p:cNvPr id="274" name="Google Shape;274;g3b83cf0cf24_0_44" title="er-user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3225" y="2554225"/>
            <a:ext cx="13306375" cy="99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/>
          <p:nvPr/>
        </p:nvSpPr>
        <p:spPr>
          <a:xfrm>
            <a:off x="1213338" y="1177497"/>
            <a:ext cx="211023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 sz="6600">
                <a:solidFill>
                  <a:schemeClr val="dk1"/>
                </a:solidFill>
              </a:rPr>
              <a:t>Technology Stack</a:t>
            </a:r>
            <a:endParaRPr/>
          </a:p>
        </p:txBody>
      </p:sp>
      <p:sp>
        <p:nvSpPr>
          <p:cNvPr id="280" name="Google Shape;280;p15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1213352" y="2536799"/>
            <a:ext cx="102474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Frontend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1138271" y="3726599"/>
            <a:ext cx="95940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Angular, TypeScript, HTML5, CSS3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12675563" y="2536808"/>
            <a:ext cx="102474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Backend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12675583" y="3726608"/>
            <a:ext cx="95940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Java 17, Spring Boot, Spring Security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1121601" y="6550518"/>
            <a:ext cx="102474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Cloud &amp; Platform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1069846" y="7740317"/>
            <a:ext cx="95940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GCP, GKE, API Gateway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Pub/Sub, Cloud Storage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12727345" y="6550520"/>
            <a:ext cx="102474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DevOps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12675565" y="7740319"/>
            <a:ext cx="95940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Docker, Terraform, Cloud Build</a:t>
            </a:r>
            <a:endParaRPr sz="4025">
              <a:solidFill>
                <a:srgbClr val="13294B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/>
        </p:nvSpPr>
        <p:spPr>
          <a:xfrm>
            <a:off x="1213338" y="1177497"/>
            <a:ext cx="211023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lang="en-US" sz="6600">
                <a:solidFill>
                  <a:schemeClr val="dk1"/>
                </a:solidFill>
              </a:rPr>
              <a:t>Key Design Decisions &amp; Trade-offs</a:t>
            </a:r>
            <a:endParaRPr/>
          </a:p>
        </p:txBody>
      </p:sp>
      <p:sp>
        <p:nvSpPr>
          <p:cNvPr id="294" name="Google Shape;294;p16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16"/>
          <p:cNvSpPr txBox="1"/>
          <p:nvPr/>
        </p:nvSpPr>
        <p:spPr>
          <a:xfrm>
            <a:off x="1068279" y="2491986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Decisions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1138266" y="3453130"/>
            <a:ext cx="192600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</a:t>
            </a:r>
            <a:r>
              <a:rPr lang="en-US" sz="4025">
                <a:solidFill>
                  <a:srgbClr val="13294B"/>
                </a:solidFill>
              </a:rPr>
              <a:t>ustom auth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GKE over VM-based deployment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Event-driven architecture</a:t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1024023" y="6864789"/>
            <a:ext cx="21771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Trade-offs</a:t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1094010" y="7825933"/>
            <a:ext cx="19260000" cy="4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Microservices add operational complexity</a:t>
            </a:r>
            <a:endParaRPr sz="4025">
              <a:solidFill>
                <a:srgbClr val="13294B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Custom Authentication &amp; Authorization will add additional complexity and compliance considerations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Eventual consistency for analytics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SSR increases frontend complexity</a:t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idx="12" type="sldNum"/>
          </p:nvPr>
        </p:nvSpPr>
        <p:spPr>
          <a:xfrm>
            <a:off x="23342978" y="12866237"/>
            <a:ext cx="250068" cy="19204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>
                <a:highlight>
                  <a:srgbClr val="FF0000"/>
                </a:highlight>
              </a:rPr>
              <a:t>‹#›</a:t>
            </a:fld>
            <a:endParaRPr>
              <a:highlight>
                <a:srgbClr val="FF0000"/>
              </a:highlight>
            </a:endParaRPr>
          </a:p>
        </p:txBody>
      </p:sp>
      <p:sp>
        <p:nvSpPr>
          <p:cNvPr id="304" name="Google Shape;304;p17"/>
          <p:cNvSpPr txBox="1"/>
          <p:nvPr>
            <p:ph type="title"/>
          </p:nvPr>
        </p:nvSpPr>
        <p:spPr>
          <a:xfrm>
            <a:off x="1068266" y="101288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6600"/>
              <a:t>Summary</a:t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242455" y="689721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1068277" y="2491975"/>
            <a:ext cx="105039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What this architecture achieves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1138266" y="3726608"/>
            <a:ext cx="19260000" cy="3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Scalability &amp; resilience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Secure &amp; compliant payments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Clean service boundaries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Cloud-native best practices</a:t>
            </a:r>
            <a:endParaRPr sz="4025">
              <a:solidFill>
                <a:srgbClr val="13294B"/>
              </a:solidFill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1080718" y="8359375"/>
            <a:ext cx="105039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5">
                <a:solidFill>
                  <a:schemeClr val="dk1"/>
                </a:solidFill>
              </a:rPr>
              <a:t>Architecture is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1150707" y="9594008"/>
            <a:ext cx="192600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Production-ready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Extensible</a:t>
            </a:r>
            <a:br>
              <a:rPr lang="en-US" sz="4025">
                <a:solidFill>
                  <a:srgbClr val="13294B"/>
                </a:solidFill>
              </a:rPr>
            </a:br>
            <a:endParaRPr sz="4025">
              <a:solidFill>
                <a:srgbClr val="13294B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4025"/>
              <a:buChar char="•"/>
            </a:pPr>
            <a:r>
              <a:rPr lang="en-US" sz="4025">
                <a:solidFill>
                  <a:srgbClr val="13294B"/>
                </a:solidFill>
              </a:rPr>
              <a:t>Future-proof</a:t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title"/>
          </p:nvPr>
        </p:nvSpPr>
        <p:spPr>
          <a:xfrm>
            <a:off x="1068266" y="1012886"/>
            <a:ext cx="21258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7D7AC"/>
              </a:buClr>
              <a:buSzPts val="6600"/>
              <a:buFont typeface="Arial"/>
              <a:buNone/>
            </a:pPr>
            <a:r>
              <a:rPr b="1" lang="en-US" sz="6600"/>
              <a:t>Future Enhancements</a:t>
            </a:r>
            <a:endParaRPr/>
          </a:p>
        </p:txBody>
      </p:sp>
      <p:sp>
        <p:nvSpPr>
          <p:cNvPr id="315" name="Google Shape;315;p18"/>
          <p:cNvSpPr txBox="1"/>
          <p:nvPr>
            <p:ph idx="12" type="sldNum"/>
          </p:nvPr>
        </p:nvSpPr>
        <p:spPr>
          <a:xfrm>
            <a:off x="23264101" y="12651876"/>
            <a:ext cx="407823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Clr>
                <a:srgbClr val="8893A5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1068266" y="2373683"/>
            <a:ext cx="19260000" cy="3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Mobile applications</a:t>
            </a:r>
            <a:br>
              <a:rPr lang="en-US" sz="4025">
                <a:solidFill>
                  <a:schemeClr val="dk1"/>
                </a:solidFill>
              </a:rPr>
            </a:br>
            <a:endParaRPr sz="4025">
              <a:solidFill>
                <a:schemeClr val="dk1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Multi-region deployment</a:t>
            </a:r>
            <a:br>
              <a:rPr lang="en-US" sz="4025">
                <a:solidFill>
                  <a:schemeClr val="dk1"/>
                </a:solidFill>
              </a:rPr>
            </a:br>
            <a:endParaRPr sz="4025">
              <a:solidFill>
                <a:schemeClr val="dk1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Recommendation engine</a:t>
            </a:r>
            <a:br>
              <a:rPr lang="en-US" sz="4025">
                <a:solidFill>
                  <a:schemeClr val="dk1"/>
                </a:solidFill>
              </a:rPr>
            </a:br>
            <a:endParaRPr sz="4025">
              <a:solidFill>
                <a:schemeClr val="dk1"/>
              </a:solidFill>
            </a:endParaRPr>
          </a:p>
          <a:p>
            <a:pPr indent="-48418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25"/>
              <a:buChar char="•"/>
            </a:pPr>
            <a:r>
              <a:rPr lang="en-US" sz="4025">
                <a:solidFill>
                  <a:schemeClr val="dk1"/>
                </a:solidFill>
              </a:rPr>
              <a:t>Advanced analytics &amp; ML</a:t>
            </a:r>
            <a:endParaRPr sz="4025">
              <a:solidFill>
                <a:srgbClr val="13294B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44c17b337_0_29"/>
          <p:cNvSpPr txBox="1"/>
          <p:nvPr>
            <p:ph idx="1" type="body"/>
          </p:nvPr>
        </p:nvSpPr>
        <p:spPr>
          <a:xfrm>
            <a:off x="1192410" y="4081145"/>
            <a:ext cx="20326500" cy="55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lang="en-US" sz="9600"/>
              <a:t>Q &amp; 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47D7AC"/>
              </a:buClr>
              <a:buSzPts val="6000"/>
              <a:buFont typeface="Arial"/>
              <a:buNone/>
            </a:pPr>
            <a:r>
              <a:rPr i="1" lang="en-US" sz="6000">
                <a:solidFill>
                  <a:srgbClr val="47D7AC"/>
                </a:solidFill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Nagarro Brand">
      <a:dk1>
        <a:srgbClr val="13294B"/>
      </a:dk1>
      <a:lt1>
        <a:srgbClr val="FEFFFF"/>
      </a:lt1>
      <a:dk2>
        <a:srgbClr val="13284B"/>
      </a:dk2>
      <a:lt2>
        <a:srgbClr val="D5D5D5"/>
      </a:lt2>
      <a:accent1>
        <a:srgbClr val="2D008B"/>
      </a:accent1>
      <a:accent2>
        <a:srgbClr val="47D7AC"/>
      </a:accent2>
      <a:accent3>
        <a:srgbClr val="F8475E"/>
      </a:accent3>
      <a:accent4>
        <a:srgbClr val="FBD871"/>
      </a:accent4>
      <a:accent5>
        <a:srgbClr val="2E008B"/>
      </a:accent5>
      <a:accent6>
        <a:srgbClr val="06041F"/>
      </a:accent6>
      <a:hlink>
        <a:srgbClr val="2D008B"/>
      </a:hlink>
      <a:folHlink>
        <a:srgbClr val="8792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2021-01-20T17:36:43Z</dcterms:created>
  <dc:creator>Aakash Goel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0x0101001CAC7C8FFD2800418811EA29003459A0</vt:lpwstr>
  </property>
</Properties>
</file>